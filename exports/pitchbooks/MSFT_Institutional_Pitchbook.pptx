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4A017"/>
                </a:solidFill>
              </a:defRPr>
            </a:pPr>
            <a:r>
              <a:t>INSTITUTIONAL DUE DILIGENCE PITCH BOOK</a:t>
            </a:r>
          </a:p>
          <a:p>
            <a:pPr>
              <a:defRPr sz="4000" b="1">
                <a:solidFill>
                  <a:srgbClr val="0A2540"/>
                </a:solidFill>
              </a:defRPr>
            </a:pPr>
            <a:r>
              <a:t>Microsoft Corp (MSFT)</a:t>
            </a:r>
          </a:p>
          <a:p>
            <a:pPr>
              <a:defRPr sz="1400">
                <a:solidFill>
                  <a:srgbClr val="646E78"/>
                </a:solidFill>
              </a:defRPr>
            </a:pPr>
            <a:r>
              <a:t>Automated Swarm Analysis &amp; Financial Valuation Deck | August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MSFT — Executive Summary &amp;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Strategic Assessment &amp; Key Findings:</a:t>
            </a:r>
          </a:p>
          <a:p>
            <a:pPr>
              <a:defRPr sz="1400">
                <a:solidFill>
                  <a:srgbClr val="282C34"/>
                </a:solidFill>
              </a:defRPr>
            </a:pPr>
            <a:r>
              <a:t>Autonomous Financial Intelligence &amp; Due Diligence Report for Microsoft Corp (MSFT).</a:t>
            </a:r>
            <a:br/>
            <a:r>
              <a:t>Key Profile: Hyperscale Cloud &amp; AI Leader</a:t>
            </a:r>
            <a:br/>
            <a:r>
              <a:t>Risk Rating: Low Risk (Score: 10.0/100).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MSFT — Valuation Multiples &amp; Financial Ratios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8229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Metric / Model Indicator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Benchmark Rating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Profit Margin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36.0%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P/E Ratio (Estimated)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Nonex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FAIR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EV /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Nonex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EXPENSIVE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Financial Risk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10.0 /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Low Risk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MSFT — Sentiment Momentum &amp; Qualitative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QoQ Sentiment Trajectory:</a:t>
            </a:r>
          </a:p>
          <a:p>
            <a:pPr>
              <a:defRPr sz="1600">
                <a:solidFill>
                  <a:srgbClr val="D4A017"/>
                </a:solidFill>
              </a:defRPr>
            </a:pPr>
            <a:r>
              <a:t>Direction: NEUTRAL_STABILITY | Momentum Score: 0.0</a:t>
            </a:r>
          </a:p>
          <a:p>
            <a:br/>
            <a:pPr>
              <a:defRPr sz="1800" b="1">
                <a:solidFill>
                  <a:srgbClr val="0A2540"/>
                </a:solidFill>
              </a:defRPr>
            </a:pPr>
            <a:r>
              <a:t>Qualitative Compliance Matrix:</a:t>
            </a:r>
          </a:p>
          <a:p>
            <a:pPr>
              <a:defRPr sz="1400">
                <a:solidFill>
                  <a:srgbClr val="282C34"/>
                </a:solidFill>
              </a:defRPr>
            </a:pPr>
            <a:r>
              <a:t>• Regulatory Status: COMPLIANT</a:t>
            </a:r>
            <a:br/>
            <a:r>
              <a:t>• Litigation Risk Level: LOW</a:t>
            </a:r>
            <a:br/>
            <a:r>
              <a:t>• Governance Score: 92.0 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MSFT — Knowledge Graph &amp; Cryptographic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Neo4j Financial Graph Cluster Integration:</a:t>
            </a:r>
          </a:p>
          <a:p>
            <a:pPr>
              <a:defRPr sz="1400">
                <a:solidFill>
                  <a:srgbClr val="282C34"/>
                </a:solidFill>
              </a:defRPr>
            </a:pPr>
            <a:r>
              <a:t>• Graph Nodes Committed: 6</a:t>
            </a:r>
            <a:br/>
            <a:r>
              <a:t>• Relationships Built: 5</a:t>
            </a:r>
            <a:br/>
            <a:r>
              <a:t>• Vector Graph Fusion: Active Single-Pass Reranker</a:t>
            </a:r>
          </a:p>
          <a:p>
            <a:br/>
            <a:pPr>
              <a:defRPr sz="1400">
                <a:solidFill>
                  <a:srgbClr val="282C34"/>
                </a:solidFill>
              </a:defRPr>
            </a:pPr>
            <a:r>
              <a:t>Cryptographic Audit Trail:</a:t>
            </a:r>
            <a:br/>
            <a:r>
              <a:t>• Audit Status: SEBI (Research Analysts) Regulations 2014 Compliant</a:t>
            </a:r>
            <a:br/>
            <a:r>
              <a:t>• Provenance Verification: Full SHA-256 Ledger Lineage Preserved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